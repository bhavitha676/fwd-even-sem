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634" r:id="rId1"/>
  </p:sldMasterIdLst>
  <p:sldIdLst>
    <p:sldId id="256" r:id="rId2"/>
    <p:sldId id="268" r:id="rId3"/>
    <p:sldId id="257" r:id="rId4"/>
    <p:sldId id="269" r:id="rId5"/>
    <p:sldId id="270" r:id="rId6"/>
    <p:sldId id="266" r:id="rId7"/>
    <p:sldId id="261" r:id="rId8"/>
    <p:sldId id="263" r:id="rId9"/>
    <p:sldId id="271" r:id="rId10"/>
    <p:sldId id="274" r:id="rId11"/>
    <p:sldId id="272" r:id="rId12"/>
    <p:sldId id="273" r:id="rId13"/>
    <p:sldId id="262" r:id="rId14"/>
    <p:sldId id="275" r:id="rId15"/>
    <p:sldId id="276" r:id="rId16"/>
    <p:sldId id="277" r:id="rId17"/>
    <p:sldId id="278" r:id="rId18"/>
    <p:sldId id="26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2748EF-BC30-42B5-86A9-E5D07A6DF686}" v="7" dt="2026-03-09T05:32:57.0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68" autoAdjust="0"/>
    <p:restoredTop sz="94660"/>
  </p:normalViewPr>
  <p:slideViewPr>
    <p:cSldViewPr snapToGrid="0" snapToObjects="1">
      <p:cViewPr varScale="1">
        <p:scale>
          <a:sx n="78" d="100"/>
          <a:sy n="78" d="100"/>
        </p:scale>
        <p:origin x="1920"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tha Reddy" userId="71701092920b4c6e" providerId="LiveId" clId="{4467402C-58E4-476E-B7B4-B24E2BEE1C7F}"/>
    <pc:docChg chg="custSel delSld modSld sldOrd">
      <pc:chgData name="Bhavitha Reddy" userId="71701092920b4c6e" providerId="LiveId" clId="{4467402C-58E4-476E-B7B4-B24E2BEE1C7F}" dt="2026-03-09T12:02:42.508" v="150" actId="20577"/>
      <pc:docMkLst>
        <pc:docMk/>
      </pc:docMkLst>
      <pc:sldChg chg="modSp mod">
        <pc:chgData name="Bhavitha Reddy" userId="71701092920b4c6e" providerId="LiveId" clId="{4467402C-58E4-476E-B7B4-B24E2BEE1C7F}" dt="2026-03-09T12:02:42.508" v="150" actId="20577"/>
        <pc:sldMkLst>
          <pc:docMk/>
          <pc:sldMk cId="0" sldId="256"/>
        </pc:sldMkLst>
        <pc:spChg chg="mod">
          <ac:chgData name="Bhavitha Reddy" userId="71701092920b4c6e" providerId="LiveId" clId="{4467402C-58E4-476E-B7B4-B24E2BEE1C7F}" dt="2026-03-09T05:07:41.419" v="17" actId="20577"/>
          <ac:spMkLst>
            <pc:docMk/>
            <pc:sldMk cId="0" sldId="256"/>
            <ac:spMk id="2" creationId="{00000000-0000-0000-0000-000000000000}"/>
          </ac:spMkLst>
        </pc:spChg>
        <pc:spChg chg="mod">
          <ac:chgData name="Bhavitha Reddy" userId="71701092920b4c6e" providerId="LiveId" clId="{4467402C-58E4-476E-B7B4-B24E2BEE1C7F}" dt="2026-03-09T05:21:51.517" v="43" actId="20577"/>
          <ac:spMkLst>
            <pc:docMk/>
            <pc:sldMk cId="0" sldId="256"/>
            <ac:spMk id="3" creationId="{00000000-0000-0000-0000-000000000000}"/>
          </ac:spMkLst>
        </pc:spChg>
        <pc:spChg chg="mod">
          <ac:chgData name="Bhavitha Reddy" userId="71701092920b4c6e" providerId="LiveId" clId="{4467402C-58E4-476E-B7B4-B24E2BEE1C7F}" dt="2026-03-09T12:02:42.508" v="150" actId="20577"/>
          <ac:spMkLst>
            <pc:docMk/>
            <pc:sldMk cId="0" sldId="256"/>
            <ac:spMk id="4" creationId="{00000000-0000-0000-0000-000000000000}"/>
          </ac:spMkLst>
        </pc:spChg>
      </pc:sldChg>
      <pc:sldChg chg="modSp">
        <pc:chgData name="Bhavitha Reddy" userId="71701092920b4c6e" providerId="LiveId" clId="{4467402C-58E4-476E-B7B4-B24E2BEE1C7F}" dt="2026-03-09T05:31:41.134" v="49" actId="1076"/>
        <pc:sldMkLst>
          <pc:docMk/>
          <pc:sldMk cId="4159348891" sldId="262"/>
        </pc:sldMkLst>
        <pc:picChg chg="mod">
          <ac:chgData name="Bhavitha Reddy" userId="71701092920b4c6e" providerId="LiveId" clId="{4467402C-58E4-476E-B7B4-B24E2BEE1C7F}" dt="2026-03-09T05:31:41.134" v="49" actId="1076"/>
          <ac:picMkLst>
            <pc:docMk/>
            <pc:sldMk cId="4159348891" sldId="262"/>
            <ac:picMk id="3" creationId="{242BE9E1-6543-D2A4-3B6B-8ED6DC9269AA}"/>
          </ac:picMkLst>
        </pc:picChg>
      </pc:sldChg>
      <pc:sldChg chg="modSp del">
        <pc:chgData name="Bhavitha Reddy" userId="71701092920b4c6e" providerId="LiveId" clId="{4467402C-58E4-476E-B7B4-B24E2BEE1C7F}" dt="2026-03-09T07:10:51.570" v="103" actId="47"/>
        <pc:sldMkLst>
          <pc:docMk/>
          <pc:sldMk cId="1263256946" sldId="267"/>
        </pc:sldMkLst>
        <pc:picChg chg="mod">
          <ac:chgData name="Bhavitha Reddy" userId="71701092920b4c6e" providerId="LiveId" clId="{4467402C-58E4-476E-B7B4-B24E2BEE1C7F}" dt="2026-03-09T05:31:08.184" v="47" actId="14100"/>
          <ac:picMkLst>
            <pc:docMk/>
            <pc:sldMk cId="1263256946" sldId="267"/>
            <ac:picMk id="4" creationId="{42FCB9A0-65D0-5726-9392-2FA474966AC6}"/>
          </ac:picMkLst>
        </pc:picChg>
      </pc:sldChg>
      <pc:sldChg chg="modSp mod">
        <pc:chgData name="Bhavitha Reddy" userId="71701092920b4c6e" providerId="LiveId" clId="{4467402C-58E4-476E-B7B4-B24E2BEE1C7F}" dt="2026-03-09T07:09:08.434" v="101" actId="20577"/>
        <pc:sldMkLst>
          <pc:docMk/>
          <pc:sldMk cId="2272901575" sldId="268"/>
        </pc:sldMkLst>
        <pc:spChg chg="mod">
          <ac:chgData name="Bhavitha Reddy" userId="71701092920b4c6e" providerId="LiveId" clId="{4467402C-58E4-476E-B7B4-B24E2BEE1C7F}" dt="2026-03-09T07:09:08.434" v="101" actId="20577"/>
          <ac:spMkLst>
            <pc:docMk/>
            <pc:sldMk cId="2272901575" sldId="268"/>
            <ac:spMk id="3" creationId="{2BF907A2-D3DB-2D33-6726-832CA4B5B09D}"/>
          </ac:spMkLst>
        </pc:spChg>
      </pc:sldChg>
      <pc:sldChg chg="modSp mod">
        <pc:chgData name="Bhavitha Reddy" userId="71701092920b4c6e" providerId="LiveId" clId="{4467402C-58E4-476E-B7B4-B24E2BEE1C7F}" dt="2026-03-09T07:10:25.115" v="102" actId="20577"/>
        <pc:sldMkLst>
          <pc:docMk/>
          <pc:sldMk cId="2804027098" sldId="273"/>
        </pc:sldMkLst>
        <pc:spChg chg="mod">
          <ac:chgData name="Bhavitha Reddy" userId="71701092920b4c6e" providerId="LiveId" clId="{4467402C-58E4-476E-B7B4-B24E2BEE1C7F}" dt="2026-03-09T07:10:25.115" v="102" actId="20577"/>
          <ac:spMkLst>
            <pc:docMk/>
            <pc:sldMk cId="2804027098" sldId="273"/>
            <ac:spMk id="3" creationId="{BB490CAD-89E5-E195-D22C-3979DA8B0600}"/>
          </ac:spMkLst>
        </pc:spChg>
      </pc:sldChg>
      <pc:sldChg chg="addSp delSp modSp mod ord">
        <pc:chgData name="Bhavitha Reddy" userId="71701092920b4c6e" providerId="LiveId" clId="{4467402C-58E4-476E-B7B4-B24E2BEE1C7F}" dt="2026-03-09T07:06:31.220" v="90" actId="1076"/>
        <pc:sldMkLst>
          <pc:docMk/>
          <pc:sldMk cId="3446151602" sldId="278"/>
        </pc:sldMkLst>
        <pc:picChg chg="add mod">
          <ac:chgData name="Bhavitha Reddy" userId="71701092920b4c6e" providerId="LiveId" clId="{4467402C-58E4-476E-B7B4-B24E2BEE1C7F}" dt="2026-03-09T06:11:43.105" v="80" actId="1076"/>
          <ac:picMkLst>
            <pc:docMk/>
            <pc:sldMk cId="3446151602" sldId="278"/>
            <ac:picMk id="4" creationId="{C3601061-8710-A293-6DE8-3D9CA2085307}"/>
          </ac:picMkLst>
        </pc:picChg>
        <pc:picChg chg="add mod">
          <ac:chgData name="Bhavitha Reddy" userId="71701092920b4c6e" providerId="LiveId" clId="{4467402C-58E4-476E-B7B4-B24E2BEE1C7F}" dt="2026-03-09T07:06:31.220" v="90" actId="1076"/>
          <ac:picMkLst>
            <pc:docMk/>
            <pc:sldMk cId="3446151602" sldId="278"/>
            <ac:picMk id="5" creationId="{401F8559-E21B-C1B6-9D45-56C92DEE2007}"/>
          </ac:picMkLst>
        </pc:picChg>
        <pc:picChg chg="add del mod">
          <ac:chgData name="Bhavitha Reddy" userId="71701092920b4c6e" providerId="LiveId" clId="{4467402C-58E4-476E-B7B4-B24E2BEE1C7F}" dt="2026-03-09T07:06:04.289" v="81" actId="478"/>
          <ac:picMkLst>
            <pc:docMk/>
            <pc:sldMk cId="3446151602" sldId="278"/>
            <ac:picMk id="6" creationId="{B7F6817E-2465-2179-9931-D26293A7DF6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377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9813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325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61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697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1094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3357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175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2743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4105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654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3/9/2026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32277803"/>
      </p:ext>
    </p:extLst>
  </p:cSld>
  <p:clrMap bg1="lt1" tx1="dk1" bg2="lt2" tx2="dk2" accent1="accent1" accent2="accent2" accent3="accent3" accent4="accent4" accent5="accent5" accent6="accent6" hlink="hlink" folHlink="folHlink"/>
  <p:sldLayoutIdLst>
    <p:sldLayoutId id="2147484635" r:id="rId1"/>
    <p:sldLayoutId id="2147484636" r:id="rId2"/>
    <p:sldLayoutId id="2147484637" r:id="rId3"/>
    <p:sldLayoutId id="2147484638" r:id="rId4"/>
    <p:sldLayoutId id="2147484639" r:id="rId5"/>
    <p:sldLayoutId id="2147484640" r:id="rId6"/>
    <p:sldLayoutId id="2147484641" r:id="rId7"/>
    <p:sldLayoutId id="2147484642" r:id="rId8"/>
    <p:sldLayoutId id="2147484643" r:id="rId9"/>
    <p:sldLayoutId id="2147484644" r:id="rId10"/>
    <p:sldLayoutId id="21474846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370422"/>
            <a:ext cx="7965407" cy="1659546"/>
          </a:xfrm>
        </p:spPr>
        <p:txBody>
          <a:bodyPr>
            <a:normAutofit fontScale="90000"/>
          </a:bodyPr>
          <a:lstStyle/>
          <a:p>
            <a:br>
              <a:rPr lang="en-US" sz="4800" dirty="0">
                <a:solidFill>
                  <a:schemeClr val="accent2">
                    <a:lumMod val="75000"/>
                  </a:schemeClr>
                </a:solidFill>
              </a:rPr>
            </a:br>
            <a:r>
              <a:rPr lang="en-US" sz="4800" dirty="0">
                <a:latin typeface="Times New Roman" panose="02020603050405020304" pitchFamily="18" charset="0"/>
                <a:cs typeface="Times New Roman" panose="02020603050405020304" pitchFamily="18" charset="0"/>
              </a:rPr>
              <a:t>DISCOVER  YOUR NEXT EVENT DESTINATION </a:t>
            </a:r>
            <a:endParaRPr sz="4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12647" y="2705345"/>
            <a:ext cx="4854088" cy="1631216"/>
          </a:xfrm>
          <a:prstGeom prst="rect">
            <a:avLst/>
          </a:prstGeom>
          <a:noFill/>
        </p:spPr>
        <p:txBody>
          <a:bodyPr wrap="square">
            <a:spAutoFit/>
          </a:bodyPr>
          <a:lstStyle/>
          <a:p>
            <a:r>
              <a:rPr sz="2000" dirty="0">
                <a:latin typeface="Times New Roman" panose="02020603050405020304" pitchFamily="18" charset="0"/>
                <a:cs typeface="Times New Roman" panose="02020603050405020304" pitchFamily="18" charset="0"/>
              </a:rPr>
              <a:t>Name: </a:t>
            </a:r>
            <a:r>
              <a:rPr lang="en-IN" sz="2000" dirty="0">
                <a:latin typeface="Times New Roman" panose="02020603050405020304" pitchFamily="18" charset="0"/>
                <a:cs typeface="Times New Roman" panose="02020603050405020304" pitchFamily="18" charset="0"/>
              </a:rPr>
              <a:t> M. Sai Bhavitha Reddy</a:t>
            </a:r>
          </a:p>
          <a:p>
            <a:r>
              <a:rPr sz="2000" dirty="0">
                <a:latin typeface="Times New Roman" panose="02020603050405020304" pitchFamily="18" charset="0"/>
                <a:cs typeface="Times New Roman" panose="02020603050405020304" pitchFamily="18" charset="0"/>
              </a:rPr>
              <a:t>Roll No: </a:t>
            </a:r>
            <a:r>
              <a:rPr lang="en-IN" sz="2000" dirty="0">
                <a:latin typeface="Times New Roman" panose="02020603050405020304" pitchFamily="18" charset="0"/>
                <a:cs typeface="Times New Roman" panose="02020603050405020304" pitchFamily="18" charset="0"/>
              </a:rPr>
              <a:t>2520030551</a:t>
            </a:r>
            <a:endParaRPr sz="2000" dirty="0">
              <a:latin typeface="Times New Roman" panose="02020603050405020304" pitchFamily="18" charset="0"/>
              <a:cs typeface="Times New Roman" panose="02020603050405020304" pitchFamily="18" charset="0"/>
            </a:endParaRPr>
          </a:p>
          <a:p>
            <a:r>
              <a:rPr sz="2000" dirty="0">
                <a:latin typeface="Times New Roman" panose="02020603050405020304" pitchFamily="18" charset="0"/>
                <a:cs typeface="Times New Roman" panose="02020603050405020304" pitchFamily="18" charset="0"/>
              </a:rPr>
              <a:t>Bran</a:t>
            </a:r>
            <a:r>
              <a:rPr lang="en-IN" sz="2000" dirty="0" err="1">
                <a:latin typeface="Times New Roman" panose="02020603050405020304" pitchFamily="18" charset="0"/>
                <a:cs typeface="Times New Roman" panose="02020603050405020304" pitchFamily="18" charset="0"/>
              </a:rPr>
              <a:t>ch</a:t>
            </a:r>
            <a:r>
              <a:rPr lang="en-IN" sz="2000" dirty="0">
                <a:latin typeface="Times New Roman" panose="02020603050405020304" pitchFamily="18" charset="0"/>
                <a:cs typeface="Times New Roman" panose="02020603050405020304" pitchFamily="18" charset="0"/>
              </a:rPr>
              <a:t>: CSE</a:t>
            </a:r>
          </a:p>
          <a:p>
            <a:r>
              <a:rPr lang="en-IN" sz="2000" dirty="0">
                <a:latin typeface="Times New Roman" panose="02020603050405020304" pitchFamily="18" charset="0"/>
                <a:cs typeface="Times New Roman" panose="02020603050405020304" pitchFamily="18" charset="0"/>
              </a:rPr>
              <a:t>Section: 2</a:t>
            </a:r>
            <a:r>
              <a:rPr lang="en-IN" sz="2000" baseline="30000" dirty="0">
                <a:latin typeface="Times New Roman" panose="02020603050405020304" pitchFamily="18" charset="0"/>
                <a:cs typeface="Times New Roman" panose="02020603050405020304" pitchFamily="18" charset="0"/>
              </a:rPr>
              <a:t>nd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Cluster: 1</a:t>
            </a:r>
            <a:r>
              <a:rPr lang="en-IN" sz="2000" baseline="30000" dirty="0">
                <a:latin typeface="Times New Roman" panose="02020603050405020304" pitchFamily="18" charset="0"/>
                <a:cs typeface="Times New Roman" panose="02020603050405020304" pitchFamily="18" charset="0"/>
              </a:rPr>
              <a:t>st</a:t>
            </a:r>
            <a:r>
              <a:rPr lang="en-IN" sz="2000" dirty="0">
                <a:latin typeface="Times New Roman" panose="02020603050405020304" pitchFamily="18" charset="0"/>
                <a:cs typeface="Times New Roman" panose="02020603050405020304" pitchFamily="18" charset="0"/>
              </a:rPr>
              <a:t> cluster</a:t>
            </a:r>
            <a:endParaRPr sz="2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872747" y="5486400"/>
            <a:ext cx="2271251" cy="1200329"/>
          </a:xfrm>
          <a:prstGeom prst="rect">
            <a:avLst/>
          </a:prstGeom>
          <a:noFill/>
        </p:spPr>
        <p:txBody>
          <a:bodyPr wrap="square">
            <a:spAutoFit/>
          </a:bodyPr>
          <a:lstStyle/>
          <a:p>
            <a:pPr algn="ctr"/>
            <a:r>
              <a:rPr lang="en-US" sz="1200" dirty="0"/>
              <a:t>Under the Guidance </a:t>
            </a:r>
          </a:p>
          <a:p>
            <a:pPr algn="ctr"/>
            <a:r>
              <a:rPr lang="en-US" sz="1200" dirty="0"/>
              <a:t>of </a:t>
            </a:r>
            <a:endParaRPr lang="en-US" sz="1200" dirty="0">
              <a:solidFill>
                <a:srgbClr val="00B050"/>
              </a:solidFill>
            </a:endParaRPr>
          </a:p>
          <a:p>
            <a:pPr algn="ctr"/>
            <a:r>
              <a:rPr lang="en-US" sz="1200" dirty="0">
                <a:solidFill>
                  <a:schemeClr val="accent3">
                    <a:lumMod val="75000"/>
                  </a:schemeClr>
                </a:solidFill>
              </a:rPr>
              <a:t>Supervisor Name: Jayram Boga</a:t>
            </a:r>
          </a:p>
          <a:p>
            <a:pPr algn="ctr"/>
            <a:r>
              <a:rPr lang="en-US" sz="1200" dirty="0">
                <a:solidFill>
                  <a:schemeClr val="accent3">
                    <a:lumMod val="75000"/>
                  </a:schemeClr>
                </a:solidFill>
              </a:rPr>
              <a:t>Assistant Professor</a:t>
            </a:r>
          </a:p>
          <a:p>
            <a:pPr algn="ctr"/>
            <a:r>
              <a:rPr lang="en-US" sz="1200" dirty="0">
                <a:solidFill>
                  <a:schemeClr val="accent3">
                    <a:lumMod val="75000"/>
                  </a:schemeClr>
                </a:solidFill>
              </a:rPr>
              <a:t>Department of CSE</a:t>
            </a:r>
          </a:p>
          <a:p>
            <a:endParaRPr sz="1200" dirty="0"/>
          </a:p>
        </p:txBody>
      </p:sp>
      <p:sp>
        <p:nvSpPr>
          <p:cNvPr id="5" name="AutoShape 2" descr="Image result for klh clg logo">
            <a:extLst>
              <a:ext uri="{FF2B5EF4-FFF2-40B4-BE49-F238E27FC236}">
                <a16:creationId xmlns:a16="http://schemas.microsoft.com/office/drawing/2014/main" id="{AD3C5954-754A-39E9-3D22-C01B40F4677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Image result for klh clg logo">
            <a:extLst>
              <a:ext uri="{FF2B5EF4-FFF2-40B4-BE49-F238E27FC236}">
                <a16:creationId xmlns:a16="http://schemas.microsoft.com/office/drawing/2014/main" id="{5BDDB8BB-BCAB-6EFA-425B-A44BF4ED666F}"/>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0" name="Picture 6">
            <a:extLst>
              <a:ext uri="{FF2B5EF4-FFF2-40B4-BE49-F238E27FC236}">
                <a16:creationId xmlns:a16="http://schemas.microsoft.com/office/drawing/2014/main" id="{DB69C4D5-6BBB-30DB-0883-85A57A2E2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79605"/>
            <a:ext cx="612646" cy="4783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9253-A99A-2E2A-C689-170121E8D0E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2BF907A2-D3DB-2D33-6726-832CA4B5B09D}"/>
              </a:ext>
            </a:extLst>
          </p:cNvPr>
          <p:cNvSpPr>
            <a:spLocks noGrp="1"/>
          </p:cNvSpPr>
          <p:nvPr>
            <p:ph idx="1"/>
          </p:nvPr>
        </p:nvSpPr>
        <p:spPr/>
        <p:txBody>
          <a:bodyPr>
            <a:normAutofit fontScale="85000" lnSpcReduction="20000"/>
          </a:bodyPr>
          <a:lstStyle/>
          <a:p>
            <a:r>
              <a:rPr lang="en-US" dirty="0">
                <a:latin typeface="Times New Roman"/>
              </a:rPr>
              <a:t>Abstract</a:t>
            </a:r>
          </a:p>
          <a:p>
            <a:r>
              <a:rPr lang="en-US" dirty="0">
                <a:latin typeface="Times New Roman"/>
              </a:rPr>
              <a:t>Existing System</a:t>
            </a:r>
          </a:p>
          <a:p>
            <a:r>
              <a:rPr lang="en-US" dirty="0">
                <a:latin typeface="Times New Roman"/>
              </a:rPr>
              <a:t>Proposed System</a:t>
            </a:r>
          </a:p>
          <a:p>
            <a:r>
              <a:rPr lang="en-US" dirty="0">
                <a:latin typeface="Times New Roman"/>
              </a:rPr>
              <a:t>System Architecture</a:t>
            </a:r>
          </a:p>
          <a:p>
            <a:r>
              <a:rPr lang="en-US" dirty="0">
                <a:latin typeface="Times New Roman"/>
              </a:rPr>
              <a:t>Project Modules</a:t>
            </a:r>
          </a:p>
          <a:p>
            <a:r>
              <a:rPr lang="en-US" dirty="0">
                <a:latin typeface="Times New Roman"/>
              </a:rPr>
              <a:t>Objectives</a:t>
            </a:r>
          </a:p>
          <a:p>
            <a:r>
              <a:rPr lang="en-US" dirty="0">
                <a:latin typeface="Times New Roman"/>
              </a:rPr>
              <a:t>CO Attainments – FWD</a:t>
            </a:r>
          </a:p>
          <a:p>
            <a:r>
              <a:rPr lang="en-US" dirty="0">
                <a:latin typeface="Times New Roman"/>
              </a:rPr>
              <a:t>CO Attainments – DSA</a:t>
            </a:r>
          </a:p>
          <a:p>
            <a:r>
              <a:rPr lang="en-US" dirty="0">
                <a:latin typeface="Times New Roman"/>
              </a:rPr>
              <a:t>Screenshots</a:t>
            </a:r>
          </a:p>
          <a:p>
            <a:r>
              <a:rPr lang="en-US" dirty="0">
                <a:latin typeface="Times New Roman"/>
              </a:rPr>
              <a:t>Conclusion</a:t>
            </a:r>
          </a:p>
          <a:p>
            <a:r>
              <a:rPr lang="en-US" dirty="0">
                <a:latin typeface="Times New Roman"/>
              </a:rPr>
              <a:t>Geo-Tag</a:t>
            </a:r>
            <a:endParaRPr lang="en-IN" dirty="0"/>
          </a:p>
        </p:txBody>
      </p:sp>
      <p:pic>
        <p:nvPicPr>
          <p:cNvPr id="4" name="Picture 6">
            <a:extLst>
              <a:ext uri="{FF2B5EF4-FFF2-40B4-BE49-F238E27FC236}">
                <a16:creationId xmlns:a16="http://schemas.microsoft.com/office/drawing/2014/main" id="{8DF8A318-5DB8-1C13-D91B-F54902385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0" y="6371302"/>
            <a:ext cx="623280" cy="486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2901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9" y="275304"/>
            <a:ext cx="4370811" cy="894736"/>
          </a:xfrm>
        </p:spPr>
        <p:txBody>
          <a:bodyPr>
            <a:normAutofit fontScale="90000"/>
          </a:bodyPr>
          <a:lstStyle/>
          <a:p>
            <a:r>
              <a:rPr lang="en-US" sz="4400" dirty="0"/>
              <a:t> </a:t>
            </a:r>
            <a:r>
              <a:rPr sz="60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722299" y="1740309"/>
            <a:ext cx="8313546" cy="485221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Discover  your next event destination  is a responsive web-based event discovery platform designed to help users explore and filter local events efficiently. The application allows users to search events by city, category, price range, and sorting preferences. It incorporates modern web technologies including HTML semantic elements, CSS features such as Grid, Flexbox, animations, media queries, and JavaScript ES6 concepts like arrow functions, promises, async/await, and DOM manipulation. The system also includes interactive components such as modal popups, theme toggling (dark/light mode), toast notifications, and local storage integration for saving user preferences and bookmarked events. This is a simple web app which is user friendly.</a:t>
            </a:r>
            <a:endParaRPr sz="2400"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11360717-615C-086E-8F2F-CABB108E2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6293981"/>
            <a:ext cx="722298" cy="5640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6E383-F1F5-BD35-324C-9AB42DADC62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CEAD23B-FD03-31CE-E16B-7A1B43245C5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Event information scattered across different platforms</a:t>
            </a:r>
          </a:p>
          <a:p>
            <a:r>
              <a:rPr lang="en-US" dirty="0">
                <a:latin typeface="Times New Roman" panose="02020603050405020304" pitchFamily="18" charset="0"/>
                <a:cs typeface="Times New Roman" panose="02020603050405020304" pitchFamily="18" charset="0"/>
              </a:rPr>
              <a:t>Difficult to find events quickly</a:t>
            </a:r>
          </a:p>
          <a:p>
            <a:r>
              <a:rPr lang="en-US" dirty="0">
                <a:latin typeface="Times New Roman" panose="02020603050405020304" pitchFamily="18" charset="0"/>
                <a:cs typeface="Times New Roman" panose="02020603050405020304" pitchFamily="18" charset="0"/>
              </a:rPr>
              <a:t>Limited filtering and search options</a:t>
            </a:r>
          </a:p>
          <a:p>
            <a:r>
              <a:rPr lang="en-US" dirty="0">
                <a:latin typeface="Times New Roman" panose="02020603050405020304" pitchFamily="18" charset="0"/>
                <a:cs typeface="Times New Roman" panose="02020603050405020304" pitchFamily="18" charset="0"/>
              </a:rPr>
              <a:t>No centralized event discovery platform</a:t>
            </a:r>
          </a:p>
          <a:p>
            <a:r>
              <a:rPr lang="en-US" dirty="0">
                <a:latin typeface="Times New Roman" panose="02020603050405020304" pitchFamily="18" charset="0"/>
                <a:cs typeface="Times New Roman" panose="02020603050405020304" pitchFamily="18" charset="0"/>
              </a:rPr>
              <a:t>Users cannot easily save </a:t>
            </a:r>
            <a:r>
              <a:rPr lang="en-US" dirty="0" err="1">
                <a:latin typeface="Times New Roman" panose="02020603050405020304" pitchFamily="18" charset="0"/>
                <a:cs typeface="Times New Roman" panose="02020603050405020304" pitchFamily="18" charset="0"/>
              </a:rPr>
              <a:t>favourite</a:t>
            </a:r>
            <a:r>
              <a:rPr lang="en-US" dirty="0">
                <a:latin typeface="Times New Roman" panose="02020603050405020304" pitchFamily="18" charset="0"/>
                <a:cs typeface="Times New Roman" panose="02020603050405020304" pitchFamily="18" charset="0"/>
              </a:rPr>
              <a:t> events</a:t>
            </a:r>
          </a:p>
          <a:p>
            <a:r>
              <a:rPr lang="en-US" dirty="0">
                <a:latin typeface="Times New Roman"/>
              </a:rPr>
              <a:t>Users must manually search multiple platforms.</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4" name="Picture 6">
            <a:extLst>
              <a:ext uri="{FF2B5EF4-FFF2-40B4-BE49-F238E27FC236}">
                <a16:creationId xmlns:a16="http://schemas.microsoft.com/office/drawing/2014/main" id="{CB34BDA4-8ADF-DFAA-3ECA-424683425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67109"/>
            <a:ext cx="628649" cy="49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122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A45C-BEC5-E14E-0FF7-12B092E11860}"/>
              </a:ext>
            </a:extLst>
          </p:cNvPr>
          <p:cNvSpPr>
            <a:spLocks noGrp="1"/>
          </p:cNvSpPr>
          <p:nvPr>
            <p:ph type="title"/>
          </p:nvPr>
        </p:nvSpPr>
        <p:spPr/>
        <p:txBody>
          <a:bodyPr/>
          <a:lstStyle/>
          <a:p>
            <a:r>
              <a:rPr lang="en-IN" dirty="0"/>
              <a:t> </a:t>
            </a:r>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47485A3B-ACD7-0D3A-CCC4-0A4A88906E3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Centralized event discovery platform</a:t>
            </a:r>
          </a:p>
          <a:p>
            <a:r>
              <a:rPr lang="en-US" dirty="0">
                <a:latin typeface="Times New Roman" panose="02020603050405020304" pitchFamily="18" charset="0"/>
                <a:cs typeface="Times New Roman" panose="02020603050405020304" pitchFamily="18" charset="0"/>
              </a:rPr>
              <a:t>Search events by city</a:t>
            </a:r>
          </a:p>
          <a:p>
            <a:r>
              <a:rPr lang="en-US" dirty="0">
                <a:latin typeface="Times New Roman" panose="02020603050405020304" pitchFamily="18" charset="0"/>
                <a:cs typeface="Times New Roman" panose="02020603050405020304" pitchFamily="18" charset="0"/>
              </a:rPr>
              <a:t>Filter events by categories</a:t>
            </a:r>
          </a:p>
          <a:p>
            <a:r>
              <a:rPr lang="en-US" dirty="0">
                <a:latin typeface="Times New Roman" panose="02020603050405020304" pitchFamily="18" charset="0"/>
                <a:cs typeface="Times New Roman" panose="02020603050405020304" pitchFamily="18" charset="0"/>
              </a:rPr>
              <a:t>Sort events by date, price or name</a:t>
            </a:r>
          </a:p>
          <a:p>
            <a:r>
              <a:rPr lang="en-US" dirty="0">
                <a:latin typeface="Times New Roman" panose="02020603050405020304" pitchFamily="18" charset="0"/>
                <a:cs typeface="Times New Roman" panose="02020603050405020304" pitchFamily="18" charset="0"/>
              </a:rPr>
              <a:t>Save </a:t>
            </a:r>
            <a:r>
              <a:rPr lang="en-US" dirty="0" err="1">
                <a:latin typeface="Times New Roman" panose="02020603050405020304" pitchFamily="18" charset="0"/>
                <a:cs typeface="Times New Roman" panose="02020603050405020304" pitchFamily="18" charset="0"/>
              </a:rPr>
              <a:t>favourite</a:t>
            </a:r>
            <a:r>
              <a:rPr lang="en-US" dirty="0">
                <a:latin typeface="Times New Roman" panose="02020603050405020304" pitchFamily="18" charset="0"/>
                <a:cs typeface="Times New Roman" panose="02020603050405020304" pitchFamily="18" charset="0"/>
              </a:rPr>
              <a:t> events</a:t>
            </a:r>
          </a:p>
          <a:p>
            <a:r>
              <a:rPr lang="en-US" dirty="0">
                <a:latin typeface="Times New Roman" panose="02020603050405020304" pitchFamily="18" charset="0"/>
                <a:cs typeface="Times New Roman" panose="02020603050405020304" pitchFamily="18" charset="0"/>
              </a:rPr>
              <a:t>User friendly responsive interface</a:t>
            </a:r>
          </a:p>
          <a:p>
            <a:r>
              <a:rPr lang="en-US" dirty="0">
                <a:latin typeface="Times New Roman" panose="02020603050405020304" pitchFamily="18" charset="0"/>
                <a:cs typeface="Times New Roman" panose="02020603050405020304" pitchFamily="18" charset="0"/>
              </a:rPr>
              <a:t>Direct ticket booking feature.</a:t>
            </a:r>
          </a:p>
          <a:p>
            <a:endParaRPr lang="en-IN" dirty="0"/>
          </a:p>
        </p:txBody>
      </p:sp>
      <p:pic>
        <p:nvPicPr>
          <p:cNvPr id="4" name="Picture 6">
            <a:extLst>
              <a:ext uri="{FF2B5EF4-FFF2-40B4-BE49-F238E27FC236}">
                <a16:creationId xmlns:a16="http://schemas.microsoft.com/office/drawing/2014/main" id="{9A783DCC-2E1B-36B4-6C1B-2D105B38A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67109"/>
            <a:ext cx="628649" cy="49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42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8944-FA3E-B17D-C3A3-7AFB27FB607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details</a:t>
            </a:r>
          </a:p>
        </p:txBody>
      </p:sp>
      <p:sp>
        <p:nvSpPr>
          <p:cNvPr id="3" name="Content Placeholder 2">
            <a:extLst>
              <a:ext uri="{FF2B5EF4-FFF2-40B4-BE49-F238E27FC236}">
                <a16:creationId xmlns:a16="http://schemas.microsoft.com/office/drawing/2014/main" id="{63CA8457-9796-1594-B1CE-3FE6A911B8B4}"/>
              </a:ext>
            </a:extLst>
          </p:cNvPr>
          <p:cNvSpPr>
            <a:spLocks noGrp="1"/>
          </p:cNvSpPr>
          <p:nvPr>
            <p:ph idx="1"/>
          </p:nvPr>
        </p:nvSpPr>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Category:-  </a:t>
            </a:r>
            <a:r>
              <a:rPr lang="en-US" sz="2400" dirty="0">
                <a:latin typeface="Times New Roman" panose="02020603050405020304" pitchFamily="18" charset="0"/>
                <a:cs typeface="Times New Roman" panose="02020603050405020304" pitchFamily="18" charset="0"/>
              </a:rPr>
              <a:t>Web Application </a:t>
            </a:r>
          </a:p>
          <a:p>
            <a:pPr marL="0" indent="0">
              <a:buNone/>
            </a:pPr>
            <a:r>
              <a:rPr lang="en-US" sz="3200" dirty="0">
                <a:latin typeface="Times New Roman" panose="02020603050405020304" pitchFamily="18" charset="0"/>
                <a:cs typeface="Times New Roman" panose="02020603050405020304" pitchFamily="18" charset="0"/>
              </a:rPr>
              <a:t>Purpose:-  </a:t>
            </a:r>
            <a:r>
              <a:rPr lang="en-US" sz="2400" dirty="0">
                <a:latin typeface="Times New Roman" panose="02020603050405020304" pitchFamily="18" charset="0"/>
                <a:cs typeface="Times New Roman" panose="02020603050405020304" pitchFamily="18" charset="0"/>
              </a:rPr>
              <a:t>This code is designed to develop an interactive and user-friendly event discovery web application.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allows users to search, filter, and sort events based on city, category, and price.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application demonstrates modern web development concepts using HTML, CSS, and JavaScript. The project aims to provide a responsive and engaging platform for discovering local events efficiently.</a:t>
            </a:r>
          </a:p>
          <a:p>
            <a:pPr marL="0" indent="0">
              <a:buNone/>
            </a:pPr>
            <a:r>
              <a:rPr lang="en-US" sz="3200" dirty="0">
                <a:latin typeface="Times New Roman" panose="02020603050405020304" pitchFamily="18" charset="0"/>
                <a:cs typeface="Times New Roman" panose="02020603050405020304" pitchFamily="18" charset="0"/>
              </a:rPr>
              <a:t>Users:-</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Travelers, General users.</a:t>
            </a:r>
          </a:p>
        </p:txBody>
      </p:sp>
      <p:pic>
        <p:nvPicPr>
          <p:cNvPr id="1026" name="Picture 2" descr="Premium Vector | Watercolor vector networking events on white background">
            <a:extLst>
              <a:ext uri="{FF2B5EF4-FFF2-40B4-BE49-F238E27FC236}">
                <a16:creationId xmlns:a16="http://schemas.microsoft.com/office/drawing/2014/main" id="{C1CED0A6-4C20-1149-6503-7E4A2379F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3755" y="0"/>
            <a:ext cx="2330245" cy="15879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AC305873-91CB-230A-85E6-5B230D470B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6311899"/>
            <a:ext cx="699354"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712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BD803-F5C4-076A-F36D-5962F86DABD2}"/>
              </a:ext>
            </a:extLst>
          </p:cNvPr>
          <p:cNvSpPr>
            <a:spLocks noGrp="1"/>
          </p:cNvSpPr>
          <p:nvPr>
            <p:ph type="title"/>
          </p:nvPr>
        </p:nvSpPr>
        <p:spPr>
          <a:xfrm>
            <a:off x="559824" y="365126"/>
            <a:ext cx="7886700" cy="1325563"/>
          </a:xfrm>
        </p:spPr>
        <p:txBody>
          <a:bodyPr>
            <a:normAutofit/>
          </a:bodyPr>
          <a:lstStyle/>
          <a:p>
            <a:r>
              <a:rPr lang="en-IN" sz="4800" dirty="0">
                <a:latin typeface="Times New Roman" panose="02020603050405020304" pitchFamily="18" charset="0"/>
                <a:cs typeface="Times New Roman" panose="02020603050405020304" pitchFamily="18" charset="0"/>
              </a:rPr>
              <a:t>System Architecture</a:t>
            </a:r>
          </a:p>
        </p:txBody>
      </p:sp>
      <p:sp>
        <p:nvSpPr>
          <p:cNvPr id="3" name="Content Placeholder 2">
            <a:extLst>
              <a:ext uri="{FF2B5EF4-FFF2-40B4-BE49-F238E27FC236}">
                <a16:creationId xmlns:a16="http://schemas.microsoft.com/office/drawing/2014/main" id="{C088CF53-BF18-1D16-CC36-4AD4C1994049}"/>
              </a:ext>
            </a:extLst>
          </p:cNvPr>
          <p:cNvSpPr>
            <a:spLocks noGrp="1"/>
          </p:cNvSpPr>
          <p:nvPr>
            <p:ph idx="1"/>
          </p:nvPr>
        </p:nvSpPr>
        <p:spPr/>
        <p:txBody>
          <a:bodyPr>
            <a:normAutofit fontScale="62500" lnSpcReduction="20000"/>
          </a:bodyPr>
          <a:lstStyle/>
          <a:p>
            <a:r>
              <a:rPr lang="en-IN" b="1" dirty="0"/>
              <a:t>User Interface Layer</a:t>
            </a:r>
            <a:endParaRPr lang="en-IN" dirty="0"/>
          </a:p>
          <a:p>
            <a:r>
              <a:rPr lang="en-IN" dirty="0"/>
              <a:t>Built using </a:t>
            </a:r>
            <a:r>
              <a:rPr lang="en-IN" b="1" dirty="0"/>
              <a:t>HTML, CSS, and JavaScript</a:t>
            </a:r>
            <a:endParaRPr lang="en-IN" dirty="0"/>
          </a:p>
          <a:p>
            <a:r>
              <a:rPr lang="en-IN" dirty="0"/>
              <a:t>Provides event search form, category filters, and event cards</a:t>
            </a:r>
          </a:p>
          <a:p>
            <a:r>
              <a:rPr lang="en-IN" b="1" dirty="0"/>
              <a:t>Application Logic Layer</a:t>
            </a:r>
            <a:endParaRPr lang="en-IN" dirty="0"/>
          </a:p>
          <a:p>
            <a:r>
              <a:rPr lang="en-IN" dirty="0"/>
              <a:t>JavaScript handles </a:t>
            </a:r>
            <a:r>
              <a:rPr lang="en-IN" b="1" dirty="0"/>
              <a:t>event filtering, sorting, and searching</a:t>
            </a:r>
            <a:endParaRPr lang="en-IN" dirty="0"/>
          </a:p>
          <a:p>
            <a:r>
              <a:rPr lang="en-IN" b="1" dirty="0"/>
              <a:t>Data Layer</a:t>
            </a:r>
            <a:endParaRPr lang="en-IN" dirty="0"/>
          </a:p>
          <a:p>
            <a:r>
              <a:rPr lang="en-IN" dirty="0"/>
              <a:t>Event information stored as </a:t>
            </a:r>
            <a:r>
              <a:rPr lang="en-IN" b="1" dirty="0"/>
              <a:t>JavaScript objects in arrays</a:t>
            </a:r>
            <a:endParaRPr lang="en-IN" dirty="0"/>
          </a:p>
          <a:p>
            <a:r>
              <a:rPr lang="en-IN" b="1" dirty="0"/>
              <a:t>DSA Layer</a:t>
            </a:r>
            <a:endParaRPr lang="en-IN" dirty="0"/>
          </a:p>
          <a:p>
            <a:r>
              <a:rPr lang="en-IN" dirty="0"/>
              <a:t>Java program implements </a:t>
            </a:r>
            <a:r>
              <a:rPr lang="en-IN" b="1" dirty="0"/>
              <a:t>searching and sorting algorithms</a:t>
            </a:r>
            <a:endParaRPr lang="en-IN" dirty="0"/>
          </a:p>
          <a:p>
            <a:r>
              <a:rPr lang="en-IN" dirty="0"/>
              <a:t>Uses </a:t>
            </a:r>
            <a:r>
              <a:rPr lang="en-IN" b="1" dirty="0"/>
              <a:t>linked lists, stacks, queues, heaps, and hash tables</a:t>
            </a:r>
            <a:r>
              <a:rPr lang="en-IN" dirty="0"/>
              <a:t> for data management</a:t>
            </a:r>
          </a:p>
          <a:p>
            <a:r>
              <a:rPr lang="en-IN" b="1" dirty="0"/>
              <a:t>Output Layer</a:t>
            </a:r>
            <a:endParaRPr lang="en-IN" dirty="0"/>
          </a:p>
          <a:p>
            <a:r>
              <a:rPr lang="en-IN" dirty="0"/>
              <a:t>Displays filtered events and detailed information dynamically</a:t>
            </a:r>
          </a:p>
          <a:p>
            <a:r>
              <a:rPr lang="en-IN" dirty="0"/>
              <a:t>Provides interactive feedback through UI updates and notifications</a:t>
            </a:r>
          </a:p>
          <a:p>
            <a:endParaRPr lang="en-IN" dirty="0"/>
          </a:p>
        </p:txBody>
      </p:sp>
      <p:pic>
        <p:nvPicPr>
          <p:cNvPr id="4" name="Picture 6">
            <a:extLst>
              <a:ext uri="{FF2B5EF4-FFF2-40B4-BE49-F238E27FC236}">
                <a16:creationId xmlns:a16="http://schemas.microsoft.com/office/drawing/2014/main" id="{6305393E-9704-2323-C1AA-3F1BD50DC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6367111"/>
            <a:ext cx="628648" cy="490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69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47AA-658A-B7B7-2074-4FD5BA0AF45B}"/>
              </a:ext>
            </a:extLst>
          </p:cNvPr>
          <p:cNvSpPr>
            <a:spLocks noGrp="1"/>
          </p:cNvSpPr>
          <p:nvPr>
            <p:ph type="title"/>
          </p:nvPr>
        </p:nvSpPr>
        <p:spPr>
          <a:xfrm>
            <a:off x="499667" y="98308"/>
            <a:ext cx="8192049" cy="1320800"/>
          </a:xfrm>
        </p:spPr>
        <p:txBody>
          <a:bodyPr>
            <a:normAutofit/>
          </a:bodyPr>
          <a:lstStyle/>
          <a:p>
            <a:r>
              <a:rPr lang="en-IN" sz="4000" dirty="0">
                <a:solidFill>
                  <a:schemeClr val="tx2"/>
                </a:solidFill>
              </a:rPr>
              <a:t>           </a:t>
            </a:r>
            <a:r>
              <a:rPr lang="en-IN" sz="4000" dirty="0">
                <a:latin typeface="Times New Roman" panose="02020603050405020304" pitchFamily="18" charset="0"/>
                <a:cs typeface="Times New Roman" panose="02020603050405020304" pitchFamily="18" charset="0"/>
              </a:rPr>
              <a:t>System Architecture Diagram</a:t>
            </a:r>
          </a:p>
        </p:txBody>
      </p:sp>
      <p:pic>
        <p:nvPicPr>
          <p:cNvPr id="4" name="Picture 3">
            <a:extLst>
              <a:ext uri="{FF2B5EF4-FFF2-40B4-BE49-F238E27FC236}">
                <a16:creationId xmlns:a16="http://schemas.microsoft.com/office/drawing/2014/main" id="{F1342515-463F-6BA4-5C45-AEAE7607FBF2}"/>
              </a:ext>
            </a:extLst>
          </p:cNvPr>
          <p:cNvPicPr>
            <a:picLocks noChangeAspect="1"/>
          </p:cNvPicPr>
          <p:nvPr/>
        </p:nvPicPr>
        <p:blipFill>
          <a:blip r:embed="rId2"/>
          <a:stretch>
            <a:fillRect/>
          </a:stretch>
        </p:blipFill>
        <p:spPr>
          <a:xfrm>
            <a:off x="137652" y="1419108"/>
            <a:ext cx="9006348" cy="5057891"/>
          </a:xfrm>
          <a:prstGeom prst="rect">
            <a:avLst/>
          </a:prstGeom>
        </p:spPr>
      </p:pic>
      <p:pic>
        <p:nvPicPr>
          <p:cNvPr id="3" name="Picture 6">
            <a:extLst>
              <a:ext uri="{FF2B5EF4-FFF2-40B4-BE49-F238E27FC236}">
                <a16:creationId xmlns:a16="http://schemas.microsoft.com/office/drawing/2014/main" id="{DC6F66E6-A30E-86AC-8CCC-9ACD019A4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6343597"/>
            <a:ext cx="658759" cy="51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2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4E213-904B-FCCB-A0B5-9EDA0B82B6C8}"/>
              </a:ext>
            </a:extLst>
          </p:cNvPr>
          <p:cNvSpPr>
            <a:spLocks noGrp="1"/>
          </p:cNvSpPr>
          <p:nvPr>
            <p:ph type="title"/>
          </p:nvPr>
        </p:nvSpPr>
        <p:spPr/>
        <p:txBody>
          <a:bodyPr/>
          <a:lstStyle/>
          <a:p>
            <a:r>
              <a:rPr lang="en-IN" dirty="0"/>
              <a:t>Project Modules</a:t>
            </a:r>
          </a:p>
        </p:txBody>
      </p:sp>
      <p:sp>
        <p:nvSpPr>
          <p:cNvPr id="3" name="Content Placeholder 2">
            <a:extLst>
              <a:ext uri="{FF2B5EF4-FFF2-40B4-BE49-F238E27FC236}">
                <a16:creationId xmlns:a16="http://schemas.microsoft.com/office/drawing/2014/main" id="{6B7DC945-1671-8165-EAEF-7C63D455FD2B}"/>
              </a:ext>
            </a:extLst>
          </p:cNvPr>
          <p:cNvSpPr>
            <a:spLocks noGrp="1"/>
          </p:cNvSpPr>
          <p:nvPr>
            <p:ph idx="1"/>
          </p:nvPr>
        </p:nvSpPr>
        <p:spPr/>
        <p:txBody>
          <a:bodyPr>
            <a:normAutofit fontScale="85000" lnSpcReduction="20000"/>
          </a:bodyPr>
          <a:lstStyle/>
          <a:p>
            <a:r>
              <a:rPr lang="en-US" b="1" dirty="0"/>
              <a:t>Event Search Module</a:t>
            </a:r>
            <a:endParaRPr lang="en-US" dirty="0"/>
          </a:p>
          <a:p>
            <a:r>
              <a:rPr lang="en-US" dirty="0"/>
              <a:t>Allows users to search events using city and price filters</a:t>
            </a:r>
          </a:p>
          <a:p>
            <a:r>
              <a:rPr lang="en-US" b="1" dirty="0"/>
              <a:t>Category Filter Module</a:t>
            </a:r>
            <a:endParaRPr lang="en-US" dirty="0"/>
          </a:p>
          <a:p>
            <a:r>
              <a:rPr lang="en-US" dirty="0"/>
              <a:t>Filters events by categories such as music, gaming, sports, education, and arts</a:t>
            </a:r>
          </a:p>
          <a:p>
            <a:r>
              <a:rPr lang="en-US" b="1" dirty="0"/>
              <a:t>Event Display Module</a:t>
            </a:r>
            <a:endParaRPr lang="en-US" dirty="0"/>
          </a:p>
          <a:p>
            <a:r>
              <a:rPr lang="en-US" dirty="0"/>
              <a:t>Displays event name, location, date, and price</a:t>
            </a:r>
          </a:p>
          <a:p>
            <a:r>
              <a:rPr lang="en-US" b="1" dirty="0"/>
              <a:t>Event Details Module</a:t>
            </a:r>
            <a:endParaRPr lang="en-US" dirty="0"/>
          </a:p>
          <a:p>
            <a:r>
              <a:rPr lang="en-US" dirty="0"/>
              <a:t>Includes organizer, capacity, description, and date</a:t>
            </a:r>
          </a:p>
          <a:p>
            <a:r>
              <a:rPr lang="en-US" b="1" dirty="0"/>
              <a:t>Event Management Module</a:t>
            </a:r>
            <a:endParaRPr lang="en-US" dirty="0"/>
          </a:p>
          <a:p>
            <a:r>
              <a:rPr lang="en-US" dirty="0"/>
              <a:t>Implements searching, sorting, linked lists, stacks, queues, and hash tables</a:t>
            </a:r>
          </a:p>
          <a:p>
            <a:endParaRPr lang="en-IN" dirty="0"/>
          </a:p>
        </p:txBody>
      </p:sp>
      <p:pic>
        <p:nvPicPr>
          <p:cNvPr id="4" name="Picture 6">
            <a:extLst>
              <a:ext uri="{FF2B5EF4-FFF2-40B4-BE49-F238E27FC236}">
                <a16:creationId xmlns:a16="http://schemas.microsoft.com/office/drawing/2014/main" id="{962323B0-7561-8D41-BB4C-2534A16D9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11899"/>
            <a:ext cx="699353"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398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0AB5-AA81-B809-E85A-16430D336F77}"/>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876558FE-C250-C7D8-9C72-7BC2332FCE9E}"/>
              </a:ext>
            </a:extLst>
          </p:cNvPr>
          <p:cNvSpPr>
            <a:spLocks noGrp="1"/>
          </p:cNvSpPr>
          <p:nvPr>
            <p:ph idx="1"/>
          </p:nvPr>
        </p:nvSpPr>
        <p:spPr/>
        <p:txBody>
          <a:bodyPr/>
          <a:lstStyle/>
          <a:p>
            <a:r>
              <a:rPr lang="en-US" dirty="0">
                <a:latin typeface="Times New Roman"/>
              </a:rPr>
              <a:t>Develop an interactive event discovery website</a:t>
            </a:r>
          </a:p>
          <a:p>
            <a:r>
              <a:rPr lang="en-US" dirty="0">
                <a:latin typeface="Times New Roman"/>
              </a:rPr>
              <a:t>Provide easy access to event information</a:t>
            </a:r>
          </a:p>
          <a:p>
            <a:r>
              <a:rPr lang="en-US" dirty="0">
                <a:latin typeface="Times New Roman"/>
              </a:rPr>
              <a:t>Implement search and filtering features</a:t>
            </a:r>
          </a:p>
          <a:p>
            <a:r>
              <a:rPr lang="en-US" dirty="0">
                <a:latin typeface="Times New Roman"/>
              </a:rPr>
              <a:t>Improve user experience with responsive UI</a:t>
            </a:r>
          </a:p>
          <a:p>
            <a:r>
              <a:rPr lang="en-US" dirty="0">
                <a:latin typeface="Times New Roman"/>
              </a:rPr>
              <a:t>Demonstrate frontend development concepts</a:t>
            </a:r>
          </a:p>
          <a:p>
            <a:pPr marL="0" indent="0">
              <a:buNone/>
            </a:pPr>
            <a:endParaRPr lang="en-IN" dirty="0"/>
          </a:p>
        </p:txBody>
      </p:sp>
      <p:pic>
        <p:nvPicPr>
          <p:cNvPr id="4" name="Picture 6">
            <a:extLst>
              <a:ext uri="{FF2B5EF4-FFF2-40B4-BE49-F238E27FC236}">
                <a16:creationId xmlns:a16="http://schemas.microsoft.com/office/drawing/2014/main" id="{E9A9745B-BE74-2FB3-BA83-317DD2347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11899"/>
            <a:ext cx="699353"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563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9378-E39D-08D6-063A-A339C65E589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CO’s Attainments – FWD</a:t>
            </a:r>
          </a:p>
        </p:txBody>
      </p:sp>
      <p:sp>
        <p:nvSpPr>
          <p:cNvPr id="3" name="Content Placeholder 2">
            <a:extLst>
              <a:ext uri="{FF2B5EF4-FFF2-40B4-BE49-F238E27FC236}">
                <a16:creationId xmlns:a16="http://schemas.microsoft.com/office/drawing/2014/main" id="{51C42E30-37F2-83AB-93E0-5956614777CD}"/>
              </a:ext>
            </a:extLst>
          </p:cNvPr>
          <p:cNvSpPr>
            <a:spLocks noGrp="1"/>
          </p:cNvSpPr>
          <p:nvPr>
            <p:ph idx="1"/>
          </p:nvPr>
        </p:nvSpPr>
        <p:spPr>
          <a:xfrm>
            <a:off x="628650" y="1835457"/>
            <a:ext cx="7886700" cy="4351338"/>
          </a:xfrm>
        </p:spPr>
        <p:txBody>
          <a:bodyPr>
            <a:normAutofit fontScale="62500" lnSpcReduction="20000"/>
          </a:bodyPr>
          <a:lstStyle/>
          <a:p>
            <a:r>
              <a:rPr lang="en-IN" b="1" dirty="0"/>
              <a:t>CO1 – HTML Structure</a:t>
            </a:r>
            <a:endParaRPr lang="en-IN" dirty="0"/>
          </a:p>
          <a:p>
            <a:r>
              <a:rPr lang="en-IN" dirty="0"/>
              <a:t>Used HTML5 semantic elements to design the webpage structure</a:t>
            </a:r>
          </a:p>
          <a:p>
            <a:r>
              <a:rPr lang="en-IN" b="1" dirty="0"/>
              <a:t>CO2 – CSS Styling</a:t>
            </a:r>
            <a:endParaRPr lang="en-IN" dirty="0"/>
          </a:p>
          <a:p>
            <a:r>
              <a:rPr lang="en-IN" dirty="0"/>
              <a:t>Applied CSS Grid, Flexbox, and responsive design</a:t>
            </a:r>
          </a:p>
          <a:p>
            <a:r>
              <a:rPr lang="en-IN" dirty="0"/>
              <a:t>Used animations, transitions, and media queries</a:t>
            </a:r>
          </a:p>
          <a:p>
            <a:r>
              <a:rPr lang="en-IN" b="1" dirty="0"/>
              <a:t>CO3 – JavaScript Programming</a:t>
            </a:r>
            <a:endParaRPr lang="en-IN" dirty="0"/>
          </a:p>
          <a:p>
            <a:r>
              <a:rPr lang="en-IN" dirty="0"/>
              <a:t>Implemented variables, arrays, objects, and functions</a:t>
            </a:r>
          </a:p>
          <a:p>
            <a:r>
              <a:rPr lang="en-IN" dirty="0"/>
              <a:t>Stored event data using JavaScript objects</a:t>
            </a:r>
          </a:p>
          <a:p>
            <a:r>
              <a:rPr lang="en-IN" b="1" dirty="0"/>
              <a:t>CO4 – DOM Manipulation</a:t>
            </a:r>
            <a:endParaRPr lang="en-IN" dirty="0"/>
          </a:p>
          <a:p>
            <a:r>
              <a:rPr lang="en-IN" dirty="0"/>
              <a:t>Used DOM methods and event listeners</a:t>
            </a:r>
          </a:p>
          <a:p>
            <a:r>
              <a:rPr lang="en-IN" dirty="0"/>
              <a:t>Dynamically updated event cards and modal windows</a:t>
            </a:r>
          </a:p>
          <a:p>
            <a:r>
              <a:rPr lang="en-IN" b="1" dirty="0"/>
              <a:t>CO5 – Advanced Web Features</a:t>
            </a:r>
            <a:endParaRPr lang="en-IN" dirty="0"/>
          </a:p>
          <a:p>
            <a:r>
              <a:rPr lang="en-IN" dirty="0"/>
              <a:t>Implemented local Storage for saved events</a:t>
            </a:r>
          </a:p>
          <a:p>
            <a:endParaRPr lang="en-IN" dirty="0"/>
          </a:p>
        </p:txBody>
      </p:sp>
      <p:pic>
        <p:nvPicPr>
          <p:cNvPr id="4" name="Picture 6">
            <a:extLst>
              <a:ext uri="{FF2B5EF4-FFF2-40B4-BE49-F238E27FC236}">
                <a16:creationId xmlns:a16="http://schemas.microsoft.com/office/drawing/2014/main" id="{F3A86AA0-31AC-B989-103D-F585EB26A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31563"/>
            <a:ext cx="674169" cy="52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743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EBC2-A33F-6C5A-145C-A8AB87E642E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CO’s Attainments – DSA</a:t>
            </a:r>
          </a:p>
        </p:txBody>
      </p:sp>
      <p:sp>
        <p:nvSpPr>
          <p:cNvPr id="3" name="Content Placeholder 2">
            <a:extLst>
              <a:ext uri="{FF2B5EF4-FFF2-40B4-BE49-F238E27FC236}">
                <a16:creationId xmlns:a16="http://schemas.microsoft.com/office/drawing/2014/main" id="{BB490CAD-89E5-E195-D22C-3979DA8B0600}"/>
              </a:ext>
            </a:extLst>
          </p:cNvPr>
          <p:cNvSpPr>
            <a:spLocks noGrp="1"/>
          </p:cNvSpPr>
          <p:nvPr>
            <p:ph idx="1"/>
          </p:nvPr>
        </p:nvSpPr>
        <p:spPr/>
        <p:txBody>
          <a:bodyPr>
            <a:noAutofit/>
          </a:bodyPr>
          <a:lstStyle/>
          <a:p>
            <a:r>
              <a:rPr lang="en-US" sz="1600" b="1" dirty="0"/>
              <a:t>CO1 – Algorithm Analysis</a:t>
            </a:r>
            <a:endParaRPr lang="en-US" sz="1600" dirty="0"/>
          </a:p>
          <a:p>
            <a:r>
              <a:rPr lang="en-US" sz="1600" dirty="0"/>
              <a:t>Implemented searching and sorting algorithms</a:t>
            </a:r>
          </a:p>
          <a:p>
            <a:r>
              <a:rPr lang="en-US" sz="1600" dirty="0"/>
              <a:t>Used Linear Search, Binary Search, Bubble Sort, Selection Sort, Insertion Sort, Merge Sort, and Quick Sort</a:t>
            </a:r>
          </a:p>
          <a:p>
            <a:r>
              <a:rPr lang="en-US" sz="1600" dirty="0"/>
              <a:t>Analyzed algorithm efficiency using Big-O notation</a:t>
            </a:r>
          </a:p>
          <a:p>
            <a:r>
              <a:rPr lang="en-US" sz="1600" b="1" dirty="0"/>
              <a:t>CO2 – Abstract Data Types</a:t>
            </a:r>
            <a:endParaRPr lang="en-US" sz="1600" dirty="0"/>
          </a:p>
          <a:p>
            <a:r>
              <a:rPr lang="en-US" sz="1600" dirty="0"/>
              <a:t>Implemented Singly Linked List, Doubly Linked List, and Circular Linked List</a:t>
            </a:r>
          </a:p>
          <a:p>
            <a:r>
              <a:rPr lang="en-US" sz="1600" b="1" dirty="0"/>
              <a:t>CO3 – Linear Data Structures</a:t>
            </a:r>
            <a:endParaRPr lang="en-US" sz="1600" dirty="0"/>
          </a:p>
          <a:p>
            <a:r>
              <a:rPr lang="en-US" sz="1600" dirty="0"/>
              <a:t>Implemented Stack and Queue structures</a:t>
            </a:r>
          </a:p>
          <a:p>
            <a:r>
              <a:rPr lang="en-US" sz="1600" dirty="0"/>
              <a:t>Used </a:t>
            </a:r>
            <a:r>
              <a:rPr lang="en-US" sz="1600" b="1" dirty="0"/>
              <a:t>Circular Queue and Deque</a:t>
            </a:r>
            <a:r>
              <a:rPr lang="en-US" sz="1600" dirty="0"/>
              <a:t> for event processing</a:t>
            </a:r>
          </a:p>
          <a:p>
            <a:r>
              <a:rPr lang="en-US" sz="1600" b="1" dirty="0"/>
              <a:t>CO4 – Hash-Based Structures</a:t>
            </a:r>
            <a:endParaRPr lang="en-US" sz="1600" dirty="0"/>
          </a:p>
          <a:p>
            <a:r>
              <a:rPr lang="en-US" sz="1600" dirty="0"/>
              <a:t>Implemented Hash Tables using Chaining and Open Addressing</a:t>
            </a:r>
          </a:p>
        </p:txBody>
      </p:sp>
      <p:pic>
        <p:nvPicPr>
          <p:cNvPr id="4" name="Picture 6">
            <a:extLst>
              <a:ext uri="{FF2B5EF4-FFF2-40B4-BE49-F238E27FC236}">
                <a16:creationId xmlns:a16="http://schemas.microsoft.com/office/drawing/2014/main" id="{D5FEC1CF-A4B6-1933-7B2C-1ED7BCABA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311899"/>
            <a:ext cx="699353"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02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77550-6AB8-6E08-6853-814463BD03E7}"/>
              </a:ext>
            </a:extLst>
          </p:cNvPr>
          <p:cNvSpPr>
            <a:spLocks noGrp="1"/>
          </p:cNvSpPr>
          <p:nvPr>
            <p:ph type="title"/>
          </p:nvPr>
        </p:nvSpPr>
        <p:spPr>
          <a:xfrm>
            <a:off x="609599" y="146304"/>
            <a:ext cx="7885472" cy="963168"/>
          </a:xfrm>
        </p:spPr>
        <p:txBody>
          <a:bodyPr>
            <a:normAutofit/>
          </a:bodyPr>
          <a:lstStyle/>
          <a:p>
            <a:r>
              <a:rPr lang="en-IN" dirty="0">
                <a:solidFill>
                  <a:schemeClr val="tx2"/>
                </a:solidFill>
              </a:rPr>
              <a:t>                  </a:t>
            </a:r>
            <a:r>
              <a:rPr lang="en-IN" sz="4000" dirty="0">
                <a:latin typeface="Times New Roman" panose="02020603050405020304" pitchFamily="18" charset="0"/>
                <a:cs typeface="Times New Roman" panose="02020603050405020304" pitchFamily="18" charset="0"/>
              </a:rPr>
              <a:t>System Flowchart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2C576AA-41EE-88FC-3C33-F075EDC3252E}"/>
              </a:ext>
            </a:extLst>
          </p:cNvPr>
          <p:cNvPicPr>
            <a:picLocks noChangeAspect="1"/>
          </p:cNvPicPr>
          <p:nvPr/>
        </p:nvPicPr>
        <p:blipFill>
          <a:blip r:embed="rId2"/>
          <a:stretch>
            <a:fillRect/>
          </a:stretch>
        </p:blipFill>
        <p:spPr>
          <a:xfrm>
            <a:off x="796413" y="1415846"/>
            <a:ext cx="6961240" cy="5295850"/>
          </a:xfrm>
          <a:prstGeom prst="rect">
            <a:avLst/>
          </a:prstGeom>
        </p:spPr>
      </p:pic>
      <p:pic>
        <p:nvPicPr>
          <p:cNvPr id="3" name="Picture 6">
            <a:extLst>
              <a:ext uri="{FF2B5EF4-FFF2-40B4-BE49-F238E27FC236}">
                <a16:creationId xmlns:a16="http://schemas.microsoft.com/office/drawing/2014/main" id="{242BE9E1-6543-D2A4-3B6B-8ED6DC926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82813"/>
            <a:ext cx="736603" cy="575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348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989B-7D97-A375-E2BD-AEFC6EB57CBB}"/>
              </a:ext>
            </a:extLst>
          </p:cNvPr>
          <p:cNvSpPr>
            <a:spLocks noGrp="1"/>
          </p:cNvSpPr>
          <p:nvPr>
            <p:ph type="title"/>
          </p:nvPr>
        </p:nvSpPr>
        <p:spPr>
          <a:xfrm>
            <a:off x="628650" y="1"/>
            <a:ext cx="7886700" cy="1071716"/>
          </a:xfrm>
        </p:spPr>
        <p:txBody>
          <a:bodyPr>
            <a:normAutofit/>
          </a:bodyPr>
          <a:lstStyle/>
          <a:p>
            <a:r>
              <a:rPr lang="en-IN" dirty="0"/>
              <a:t>                     </a:t>
            </a:r>
            <a:r>
              <a:rPr lang="en-IN" sz="3600" dirty="0"/>
              <a:t>Screenshots – FWD</a:t>
            </a:r>
          </a:p>
        </p:txBody>
      </p:sp>
      <p:pic>
        <p:nvPicPr>
          <p:cNvPr id="4" name="Picture 3">
            <a:extLst>
              <a:ext uri="{FF2B5EF4-FFF2-40B4-BE49-F238E27FC236}">
                <a16:creationId xmlns:a16="http://schemas.microsoft.com/office/drawing/2014/main" id="{0513EDAE-43C9-A635-4629-19A46B0310AB}"/>
              </a:ext>
            </a:extLst>
          </p:cNvPr>
          <p:cNvPicPr>
            <a:picLocks noChangeAspect="1"/>
          </p:cNvPicPr>
          <p:nvPr/>
        </p:nvPicPr>
        <p:blipFill>
          <a:blip r:embed="rId2"/>
          <a:stretch>
            <a:fillRect/>
          </a:stretch>
        </p:blipFill>
        <p:spPr>
          <a:xfrm>
            <a:off x="137651" y="1338628"/>
            <a:ext cx="3028336" cy="2486120"/>
          </a:xfrm>
          <a:prstGeom prst="rect">
            <a:avLst/>
          </a:prstGeom>
        </p:spPr>
      </p:pic>
      <p:pic>
        <p:nvPicPr>
          <p:cNvPr id="6" name="Picture 5">
            <a:extLst>
              <a:ext uri="{FF2B5EF4-FFF2-40B4-BE49-F238E27FC236}">
                <a16:creationId xmlns:a16="http://schemas.microsoft.com/office/drawing/2014/main" id="{0F355067-CF8E-FCF2-D732-42E4113980C6}"/>
              </a:ext>
            </a:extLst>
          </p:cNvPr>
          <p:cNvPicPr>
            <a:picLocks noChangeAspect="1"/>
          </p:cNvPicPr>
          <p:nvPr/>
        </p:nvPicPr>
        <p:blipFill>
          <a:blip r:embed="rId3"/>
          <a:stretch>
            <a:fillRect/>
          </a:stretch>
        </p:blipFill>
        <p:spPr>
          <a:xfrm>
            <a:off x="5427406" y="1338628"/>
            <a:ext cx="3411794" cy="2486120"/>
          </a:xfrm>
          <a:prstGeom prst="rect">
            <a:avLst/>
          </a:prstGeom>
        </p:spPr>
      </p:pic>
      <p:pic>
        <p:nvPicPr>
          <p:cNvPr id="8" name="Picture 7">
            <a:extLst>
              <a:ext uri="{FF2B5EF4-FFF2-40B4-BE49-F238E27FC236}">
                <a16:creationId xmlns:a16="http://schemas.microsoft.com/office/drawing/2014/main" id="{972B61A2-9FEC-CEB4-C3C7-81A4852DCEB4}"/>
              </a:ext>
            </a:extLst>
          </p:cNvPr>
          <p:cNvPicPr>
            <a:picLocks noChangeAspect="1"/>
          </p:cNvPicPr>
          <p:nvPr/>
        </p:nvPicPr>
        <p:blipFill>
          <a:blip r:embed="rId4"/>
          <a:stretch>
            <a:fillRect/>
          </a:stretch>
        </p:blipFill>
        <p:spPr>
          <a:xfrm>
            <a:off x="137651" y="4277031"/>
            <a:ext cx="3028336" cy="2310581"/>
          </a:xfrm>
          <a:prstGeom prst="rect">
            <a:avLst/>
          </a:prstGeom>
        </p:spPr>
      </p:pic>
      <p:pic>
        <p:nvPicPr>
          <p:cNvPr id="10" name="Picture 9">
            <a:extLst>
              <a:ext uri="{FF2B5EF4-FFF2-40B4-BE49-F238E27FC236}">
                <a16:creationId xmlns:a16="http://schemas.microsoft.com/office/drawing/2014/main" id="{B6407FBA-7FCA-16FE-87B2-CA788AA96E98}"/>
              </a:ext>
            </a:extLst>
          </p:cNvPr>
          <p:cNvPicPr>
            <a:picLocks noChangeAspect="1"/>
          </p:cNvPicPr>
          <p:nvPr/>
        </p:nvPicPr>
        <p:blipFill>
          <a:blip r:embed="rId5"/>
          <a:stretch>
            <a:fillRect/>
          </a:stretch>
        </p:blipFill>
        <p:spPr>
          <a:xfrm>
            <a:off x="5427406" y="4277031"/>
            <a:ext cx="3411794" cy="2310581"/>
          </a:xfrm>
          <a:prstGeom prst="rect">
            <a:avLst/>
          </a:prstGeom>
        </p:spPr>
      </p:pic>
    </p:spTree>
    <p:extLst>
      <p:ext uri="{BB962C8B-B14F-4D97-AF65-F5344CB8AC3E}">
        <p14:creationId xmlns:p14="http://schemas.microsoft.com/office/powerpoint/2010/main" val="3423570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8976-0BA1-F805-EA66-F84235505A27}"/>
              </a:ext>
            </a:extLst>
          </p:cNvPr>
          <p:cNvSpPr>
            <a:spLocks noGrp="1"/>
          </p:cNvSpPr>
          <p:nvPr>
            <p:ph type="title"/>
          </p:nvPr>
        </p:nvSpPr>
        <p:spPr/>
        <p:txBody>
          <a:bodyPr/>
          <a:lstStyle/>
          <a:p>
            <a:r>
              <a:rPr lang="en-IN" dirty="0"/>
              <a:t>Screenshots – DSA</a:t>
            </a:r>
          </a:p>
        </p:txBody>
      </p:sp>
      <p:pic>
        <p:nvPicPr>
          <p:cNvPr id="4" name="Picture 3">
            <a:extLst>
              <a:ext uri="{FF2B5EF4-FFF2-40B4-BE49-F238E27FC236}">
                <a16:creationId xmlns:a16="http://schemas.microsoft.com/office/drawing/2014/main" id="{10D1BF72-205C-9A8F-CDF6-3D3C866E810E}"/>
              </a:ext>
            </a:extLst>
          </p:cNvPr>
          <p:cNvPicPr>
            <a:picLocks noChangeAspect="1"/>
          </p:cNvPicPr>
          <p:nvPr/>
        </p:nvPicPr>
        <p:blipFill>
          <a:blip r:embed="rId2"/>
          <a:stretch>
            <a:fillRect/>
          </a:stretch>
        </p:blipFill>
        <p:spPr>
          <a:xfrm>
            <a:off x="769435" y="1690689"/>
            <a:ext cx="3345365" cy="979523"/>
          </a:xfrm>
          <a:prstGeom prst="rect">
            <a:avLst/>
          </a:prstGeom>
        </p:spPr>
      </p:pic>
      <p:pic>
        <p:nvPicPr>
          <p:cNvPr id="6" name="Picture 5">
            <a:extLst>
              <a:ext uri="{FF2B5EF4-FFF2-40B4-BE49-F238E27FC236}">
                <a16:creationId xmlns:a16="http://schemas.microsoft.com/office/drawing/2014/main" id="{D0CF7A48-BF0B-36BB-63B5-FD5A3804984F}"/>
              </a:ext>
            </a:extLst>
          </p:cNvPr>
          <p:cNvPicPr>
            <a:picLocks noChangeAspect="1"/>
          </p:cNvPicPr>
          <p:nvPr/>
        </p:nvPicPr>
        <p:blipFill>
          <a:blip r:embed="rId3"/>
          <a:stretch>
            <a:fillRect/>
          </a:stretch>
        </p:blipFill>
        <p:spPr>
          <a:xfrm>
            <a:off x="830765" y="3607420"/>
            <a:ext cx="3222703" cy="2098862"/>
          </a:xfrm>
          <a:prstGeom prst="rect">
            <a:avLst/>
          </a:prstGeom>
        </p:spPr>
      </p:pic>
      <p:pic>
        <p:nvPicPr>
          <p:cNvPr id="8" name="Picture 7">
            <a:extLst>
              <a:ext uri="{FF2B5EF4-FFF2-40B4-BE49-F238E27FC236}">
                <a16:creationId xmlns:a16="http://schemas.microsoft.com/office/drawing/2014/main" id="{A3B2701C-2861-7C3C-4819-4DFEF1DA5433}"/>
              </a:ext>
            </a:extLst>
          </p:cNvPr>
          <p:cNvPicPr>
            <a:picLocks noChangeAspect="1"/>
          </p:cNvPicPr>
          <p:nvPr/>
        </p:nvPicPr>
        <p:blipFill>
          <a:blip r:embed="rId4"/>
          <a:stretch>
            <a:fillRect/>
          </a:stretch>
        </p:blipFill>
        <p:spPr>
          <a:xfrm>
            <a:off x="5337255" y="1585200"/>
            <a:ext cx="2791986" cy="1565104"/>
          </a:xfrm>
          <a:prstGeom prst="rect">
            <a:avLst/>
          </a:prstGeom>
        </p:spPr>
      </p:pic>
      <p:pic>
        <p:nvPicPr>
          <p:cNvPr id="10" name="Picture 9">
            <a:extLst>
              <a:ext uri="{FF2B5EF4-FFF2-40B4-BE49-F238E27FC236}">
                <a16:creationId xmlns:a16="http://schemas.microsoft.com/office/drawing/2014/main" id="{7C3B66D0-67F9-32F4-81B7-6955AED4E0DE}"/>
              </a:ext>
            </a:extLst>
          </p:cNvPr>
          <p:cNvPicPr>
            <a:picLocks noChangeAspect="1"/>
          </p:cNvPicPr>
          <p:nvPr/>
        </p:nvPicPr>
        <p:blipFill>
          <a:blip r:embed="rId5"/>
          <a:stretch>
            <a:fillRect/>
          </a:stretch>
        </p:blipFill>
        <p:spPr>
          <a:xfrm>
            <a:off x="4572000" y="3716517"/>
            <a:ext cx="4046778" cy="1984553"/>
          </a:xfrm>
          <a:prstGeom prst="rect">
            <a:avLst/>
          </a:prstGeom>
        </p:spPr>
      </p:pic>
    </p:spTree>
    <p:extLst>
      <p:ext uri="{BB962C8B-B14F-4D97-AF65-F5344CB8AC3E}">
        <p14:creationId xmlns:p14="http://schemas.microsoft.com/office/powerpoint/2010/main" val="421965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0DA7-AC8C-B00F-B775-0A8A12853EB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4825011-CE95-220E-D564-B151127C3419}"/>
              </a:ext>
            </a:extLst>
          </p:cNvPr>
          <p:cNvSpPr>
            <a:spLocks noGrp="1"/>
          </p:cNvSpPr>
          <p:nvPr>
            <p:ph idx="1"/>
          </p:nvPr>
        </p:nvSpPr>
        <p:spPr/>
        <p:txBody>
          <a:bodyPr>
            <a:normAutofit fontScale="92500" lnSpcReduction="10000"/>
          </a:bodyPr>
          <a:lstStyle/>
          <a:p>
            <a:pPr marL="0" indent="0">
              <a:buNone/>
            </a:pPr>
            <a:endParaRPr lang="en-US" dirty="0"/>
          </a:p>
          <a:p>
            <a:r>
              <a:rPr lang="en-US" dirty="0"/>
              <a:t>The project “Discover Your Next Event Destination” provides a platform to explore local events easily.</a:t>
            </a:r>
          </a:p>
          <a:p>
            <a:r>
              <a:rPr lang="en-US" dirty="0"/>
              <a:t>Built using HTML, CSS, and JavaScript to create a responsive and interactive user interface.</a:t>
            </a:r>
          </a:p>
          <a:p>
            <a:r>
              <a:rPr lang="en-US" dirty="0"/>
              <a:t>Users can search, filter, and view event details dynamically.</a:t>
            </a:r>
          </a:p>
          <a:p>
            <a:r>
              <a:rPr lang="en-US" dirty="0"/>
              <a:t>Data Structures and Algorithms in Java were implemented for efficient event management.</a:t>
            </a:r>
          </a:p>
          <a:p>
            <a:r>
              <a:rPr lang="en-US" dirty="0"/>
              <a:t>The project demonstrates practical knowledge of Front-End Web Development and DSA concepts.</a:t>
            </a:r>
          </a:p>
          <a:p>
            <a:endParaRPr lang="en-IN" dirty="0"/>
          </a:p>
        </p:txBody>
      </p:sp>
      <p:pic>
        <p:nvPicPr>
          <p:cNvPr id="4" name="Picture 6">
            <a:extLst>
              <a:ext uri="{FF2B5EF4-FFF2-40B4-BE49-F238E27FC236}">
                <a16:creationId xmlns:a16="http://schemas.microsoft.com/office/drawing/2014/main" id="{2412ABE8-8E8B-8FF9-4978-76DBBB52BD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205398"/>
            <a:ext cx="835741" cy="652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190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C142F-259D-4401-74B5-332A5E4F8BB5}"/>
              </a:ext>
            </a:extLst>
          </p:cNvPr>
          <p:cNvSpPr>
            <a:spLocks noGrp="1"/>
          </p:cNvSpPr>
          <p:nvPr>
            <p:ph type="title"/>
          </p:nvPr>
        </p:nvSpPr>
        <p:spPr/>
        <p:txBody>
          <a:bodyPr/>
          <a:lstStyle/>
          <a:p>
            <a:r>
              <a:rPr lang="en-IN" dirty="0"/>
              <a:t>Geo-Tag pictures</a:t>
            </a:r>
          </a:p>
        </p:txBody>
      </p:sp>
      <p:pic>
        <p:nvPicPr>
          <p:cNvPr id="4" name="Picture 3">
            <a:extLst>
              <a:ext uri="{FF2B5EF4-FFF2-40B4-BE49-F238E27FC236}">
                <a16:creationId xmlns:a16="http://schemas.microsoft.com/office/drawing/2014/main" id="{C3601061-8710-A293-6DE8-3D9CA2085307}"/>
              </a:ext>
            </a:extLst>
          </p:cNvPr>
          <p:cNvPicPr>
            <a:picLocks noChangeAspect="1"/>
          </p:cNvPicPr>
          <p:nvPr/>
        </p:nvPicPr>
        <p:blipFill>
          <a:blip r:embed="rId2"/>
          <a:stretch>
            <a:fillRect/>
          </a:stretch>
        </p:blipFill>
        <p:spPr>
          <a:xfrm>
            <a:off x="1197845" y="2226185"/>
            <a:ext cx="2223781" cy="3953389"/>
          </a:xfrm>
          <a:prstGeom prst="rect">
            <a:avLst/>
          </a:prstGeom>
        </p:spPr>
      </p:pic>
      <p:pic>
        <p:nvPicPr>
          <p:cNvPr id="5" name="Picture 4">
            <a:extLst>
              <a:ext uri="{FF2B5EF4-FFF2-40B4-BE49-F238E27FC236}">
                <a16:creationId xmlns:a16="http://schemas.microsoft.com/office/drawing/2014/main" id="{401F8559-E21B-C1B6-9D45-56C92DEE2007}"/>
              </a:ext>
            </a:extLst>
          </p:cNvPr>
          <p:cNvPicPr>
            <a:picLocks noChangeAspect="1"/>
          </p:cNvPicPr>
          <p:nvPr/>
        </p:nvPicPr>
        <p:blipFill>
          <a:blip r:embed="rId3"/>
          <a:stretch>
            <a:fillRect/>
          </a:stretch>
        </p:blipFill>
        <p:spPr>
          <a:xfrm>
            <a:off x="5722373" y="2226185"/>
            <a:ext cx="2223782" cy="3953389"/>
          </a:xfrm>
          <a:prstGeom prst="rect">
            <a:avLst/>
          </a:prstGeom>
        </p:spPr>
      </p:pic>
    </p:spTree>
    <p:extLst>
      <p:ext uri="{BB962C8B-B14F-4D97-AF65-F5344CB8AC3E}">
        <p14:creationId xmlns:p14="http://schemas.microsoft.com/office/powerpoint/2010/main" val="3446151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88F4-7C38-E709-A6DB-74DDFBAAF8B9}"/>
              </a:ext>
            </a:extLst>
          </p:cNvPr>
          <p:cNvSpPr>
            <a:spLocks noGrp="1"/>
          </p:cNvSpPr>
          <p:nvPr>
            <p:ph type="title"/>
          </p:nvPr>
        </p:nvSpPr>
        <p:spPr>
          <a:xfrm>
            <a:off x="768096" y="585215"/>
            <a:ext cx="7290054" cy="5628771"/>
          </a:xfrm>
        </p:spPr>
        <p:txBody>
          <a:bodyPr>
            <a:normAutofit/>
          </a:bodyPr>
          <a:lstStyle/>
          <a:p>
            <a:r>
              <a:rPr lang="en-IN" sz="9600" dirty="0"/>
              <a:t>      </a:t>
            </a:r>
            <a:r>
              <a:rPr lang="en-IN" sz="6000" dirty="0">
                <a:solidFill>
                  <a:schemeClr val="tx1">
                    <a:lumMod val="95000"/>
                    <a:lumOff val="5000"/>
                  </a:schemeClr>
                </a:solidFill>
              </a:rPr>
              <a:t>THANK    YOU</a:t>
            </a:r>
          </a:p>
        </p:txBody>
      </p:sp>
      <p:pic>
        <p:nvPicPr>
          <p:cNvPr id="3" name="Picture 6">
            <a:extLst>
              <a:ext uri="{FF2B5EF4-FFF2-40B4-BE49-F238E27FC236}">
                <a16:creationId xmlns:a16="http://schemas.microsoft.com/office/drawing/2014/main" id="{5DDFEBC8-D349-C541-0AD8-E74F1242D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6167010"/>
            <a:ext cx="884902" cy="690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0964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docProps/app.xml><?xml version="1.0" encoding="utf-8"?>
<Properties xmlns="http://schemas.openxmlformats.org/officeDocument/2006/extended-properties" xmlns:vt="http://schemas.openxmlformats.org/officeDocument/2006/docPropsVTypes">
  <Template/>
  <TotalTime>824</TotalTime>
  <Words>808</Words>
  <Application>Microsoft Office PowerPoint</Application>
  <PresentationFormat>On-screen Show (4:3)</PresentationFormat>
  <Paragraphs>114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Times New Roman</vt:lpstr>
      <vt:lpstr>Office Theme</vt:lpstr>
      <vt:lpstr> DISCOVER  YOUR NEXT EVENT DESTINATION </vt:lpstr>
      <vt:lpstr>Outline</vt:lpstr>
      <vt:lpstr> Abstract</vt:lpstr>
      <vt:lpstr>Existing System</vt:lpstr>
      <vt:lpstr> Proposed System</vt:lpstr>
      <vt:lpstr>Project details</vt:lpstr>
      <vt:lpstr>System Architecture</vt:lpstr>
      <vt:lpstr>           System Architecture Diagram</vt:lpstr>
      <vt:lpstr>Project Modules</vt:lpstr>
      <vt:lpstr>Objectives</vt:lpstr>
      <vt:lpstr>CO’s Attainments – FWD</vt:lpstr>
      <vt:lpstr>CO’s Attainments – DSA</vt:lpstr>
      <vt:lpstr>                  System Flowchart</vt:lpstr>
      <vt:lpstr>                     Screenshots – FWD</vt:lpstr>
      <vt:lpstr>Screenshots – DSA</vt:lpstr>
      <vt:lpstr>Conclusion</vt:lpstr>
      <vt:lpstr>Geo-Tag pictures</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Prasad</dc:creator>
  <cp:keywords/>
  <dc:description>generated using python-pptx</dc:description>
  <cp:lastModifiedBy>Bhavitha Reddy</cp:lastModifiedBy>
  <cp:revision>17</cp:revision>
  <dcterms:created xsi:type="dcterms:W3CDTF">2013-01-27T09:14:16Z</dcterms:created>
  <dcterms:modified xsi:type="dcterms:W3CDTF">2026-03-09T12:02:52Z</dcterms:modified>
  <cp:category/>
</cp:coreProperties>
</file>